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4F46E5"/>
                </a:solidFill>
              </a:defRPr>
            </a:pPr>
            <a:r>
              <a:t>AGEN-OHADA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Application de Gestion d'Études Notariales</a:t>
            </a:r>
          </a:p>
          <a:p>
            <a:r>
              <a:t>Solution moderne, OHADA-compliant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t>🏗️ 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AGEN-OHADA est une solution logicielle sur-mesure, moderne et sécurisée, conçue spécifiquement pour répondre aux exigences des études notariales opérant dans l'espace juridique OHADA (Organisation pour l'Harmonisation en Afrique du Droit des Affaires).</a:t>
            </a:r>
          </a:p>
          <a:p>
            <a:pPr>
              <a:defRPr sz="2200"/>
            </a:pPr>
            <a:r>
              <a:t>L'application centralise et automatise l'ensemble du cycle de vie d'une affaire notariale : de l'accueil du client à l'archivage final de l'acte, en passant par la rédaction, le calcul des droits d'enregistrement et la comptabilité stricte de l'étude.</a:t>
            </a:r>
          </a:p>
          <a:p>
            <a:pPr>
              <a:defRPr sz="2200"/>
            </a:pPr>
            <a:r>
              <a:t>AGEN repose sur des fondations techniques robustes, garantissant sécurité, rapidité et maintenabilité. L'architecture suit le modèle MVC (Modèle-Vue-Contrôleur) avec une stricte séparation des responsabilités (Blueprint Pattern).</a:t>
            </a:r>
          </a:p>
          <a:p>
            <a:pPr>
              <a:defRPr sz="2200"/>
            </a:pPr>
            <a:r>
              <a:t>graph LR</a:t>
            </a:r>
          </a:p>
          <a:p>
            <a:pPr>
              <a:defRPr sz="2200"/>
            </a:pPr>
            <a:r>
              <a:t>subgraph "Interface Utilisateur (Frontend)"</a:t>
            </a:r>
          </a:p>
          <a:p>
            <a:pPr>
              <a:defRPr sz="2200"/>
            </a:pPr>
            <a:r>
              <a:t>UI[TailwindCSS &amp; Alpine.js]</a:t>
            </a:r>
          </a:p>
          <a:p>
            <a:pPr>
              <a:defRPr sz="2200"/>
            </a:pPr>
            <a:r>
              <a:t>Templates[Templating Jinja2]</a:t>
            </a:r>
          </a:p>
          <a:p>
            <a:pPr>
              <a:defRPr sz="2200"/>
            </a:pPr>
            <a:r>
              <a:t>subgraph "Cœur de l'Application (Backend Flask)"</a:t>
            </a:r>
          </a:p>
          <a:p>
            <a:pPr>
              <a:defRPr sz="2200"/>
            </a:pPr>
            <a:r>
              <a:t>Auth[Sécurité &amp; Auth]</a:t>
            </a:r>
          </a:p>
          <a:p>
            <a:pPr>
              <a:defRPr sz="2200"/>
            </a:pPr>
            <a:r>
              <a:t>Clients[Gestion Clients]</a:t>
            </a:r>
          </a:p>
          <a:p>
            <a:pPr>
              <a:defRPr sz="2200"/>
            </a:pPr>
            <a:r>
              <a:t>Dossiers[Gestion Dossiers]</a:t>
            </a:r>
          </a:p>
          <a:p>
            <a:pPr>
              <a:defRPr sz="2200"/>
            </a:pPr>
            <a:r>
              <a:t>Actes[Moteur d'Actes]</a:t>
            </a:r>
          </a:p>
          <a:p>
            <a:pPr>
              <a:defRPr sz="2200"/>
            </a:pPr>
            <a:r>
              <a:t>Form[Formalités &amp; Calculs]</a:t>
            </a:r>
          </a:p>
          <a:p>
            <a:pPr>
              <a:defRPr sz="2200"/>
            </a:pPr>
            <a:r>
              <a:t>Comp[Comptabilité]</a:t>
            </a:r>
          </a:p>
          <a:p>
            <a:pPr>
              <a:defRPr sz="2200"/>
            </a:pPr>
            <a:r>
              <a:t>subgraph "Couche Données persistantes"</a:t>
            </a:r>
          </a:p>
          <a:p>
            <a:pPr>
              <a:defRPr sz="2200"/>
            </a:pPr>
            <a:r>
              <a:t>ORM[SQLAlchemy ORM]</a:t>
            </a:r>
          </a:p>
          <a:p>
            <a:pPr>
              <a:defRPr sz="2200"/>
            </a:pPr>
            <a:r>
              <a:t>DB[(PostgreSQL 14+)]</a:t>
            </a:r>
          </a:p>
          <a:p>
            <a:pPr>
              <a:defRPr sz="2200"/>
            </a:pPr>
            <a:r>
              <a:t>UI &lt;--&gt;|HTTP / AJAX| Templates</a:t>
            </a:r>
          </a:p>
          <a:p>
            <a:pPr>
              <a:defRPr sz="2200"/>
            </a:pPr>
            <a:r>
              <a:t>Templates &lt;--&gt;|Rendu Dynamique| Auth</a:t>
            </a:r>
          </a:p>
          <a:p>
            <a:pPr>
              <a:defRPr sz="2200"/>
            </a:pPr>
            <a:r>
              <a:t>Templates &lt;--&gt; Clients</a:t>
            </a:r>
          </a:p>
          <a:p>
            <a:pPr>
              <a:defRPr sz="2200"/>
            </a:pPr>
            <a:r>
              <a:t>Templates &lt;--&gt; Dossiers</a:t>
            </a:r>
          </a:p>
          <a:p>
            <a:pPr>
              <a:defRPr sz="2200"/>
            </a:pPr>
            <a:r>
              <a:t>Templates &lt;--&gt; Actes</a:t>
            </a:r>
          </a:p>
          <a:p>
            <a:pPr>
              <a:defRPr sz="2200"/>
            </a:pPr>
            <a:r>
              <a:t>Templates &lt;--&gt; Form</a:t>
            </a:r>
          </a:p>
          <a:p>
            <a:pPr>
              <a:defRPr sz="2200"/>
            </a:pPr>
            <a:r>
              <a:t>Templates &lt;--&gt; Comp</a:t>
            </a:r>
          </a:p>
          <a:p>
            <a:pPr>
              <a:defRPr sz="2200"/>
            </a:pPr>
            <a:r>
              <a:t>Auth &amp; Clients &amp; Dossiers &amp; Actes &amp; Form &amp; Comp &lt;--&gt;|Python Objects| ORM</a:t>
            </a:r>
          </a:p>
          <a:p>
            <a:pPr>
              <a:defRPr sz="2200"/>
            </a:pPr>
            <a:r>
              <a:t>ORM &lt;--&gt;|Requêtes SQL Sécurisées| DB</a:t>
            </a:r>
          </a:p>
          <a:p>
            <a:pPr>
              <a:defRPr sz="2200"/>
            </a:pPr>
            <a:r>
              <a:t>Stack Technique Détaillée :</a:t>
            </a:r>
          </a:p>
          <a:p>
            <a:pPr lvl="1">
              <a:defRPr sz="1800"/>
            </a:pPr>
            <a:r>
              <a:t>  Backend : Python 3, Framework Flask 3.x.</a:t>
            </a:r>
          </a:p>
          <a:p>
            <a:pPr lvl="1">
              <a:defRPr sz="1800"/>
            </a:pPr>
            <a:r>
              <a:t>  Base de données : PostgreSQL avec SQLAlchemy (ORM) et Alembic pour les migrations.</a:t>
            </a:r>
          </a:p>
          <a:p>
            <a:pPr lvl="1">
              <a:defRPr sz="1800"/>
            </a:pPr>
            <a:r>
              <a:t>  Frontend : HTML5, TailwindCSS (pour un design moderne et totalement responsive), Alpine.js (pour l'interactivité).</a:t>
            </a:r>
          </a:p>
          <a:p>
            <a:pPr lvl="1">
              <a:defRPr sz="1800"/>
            </a:pPr>
            <a:r>
              <a:t>  Génération de Documents : Publipostage avancé sur modèles `.docx` (Microsoft Word) et Markdown.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t>✨ Fonctionnalités Principales (Modules)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L'application est divisée en 6 modules intégrés qui communiquent intelligemment entre eux.</a:t>
            </a:r>
          </a:p>
          <a:p>
            <a:pPr>
              <a:defRPr sz="2200"/>
            </a:pPr>
            <a:r>
              <a:t>👥 1. Gestion des Clients (Module KYC)</a:t>
            </a:r>
          </a:p>
          <a:p>
            <a:pPr lvl="1">
              <a:defRPr sz="1800"/>
            </a:pPr>
            <a:r>
              <a:t>  Centralisation : Enregistrement des personnes physiques et morales.</a:t>
            </a:r>
          </a:p>
          <a:p>
            <a:pPr lvl="1">
              <a:defRPr sz="1800"/>
            </a:pPr>
            <a:r>
              <a:t>  KYC (Know Your Customer) : Suivi de la complétude du dossier client (PIèce d'identité, justificatifs de domicile, profession).</a:t>
            </a:r>
          </a:p>
          <a:p>
            <a:pPr lvl="1">
              <a:defRPr sz="1800"/>
            </a:pPr>
            <a:r>
              <a:t>  Liaisons Multiples : Un même client peut intervenir dans plusieurs affaires de l'étude avec des rôles différents.</a:t>
            </a:r>
          </a:p>
          <a:p>
            <a:pPr>
              <a:defRPr sz="2200"/>
            </a:pPr>
            <a:r>
              <a:t>📂 2. Gestion des Dossiers</a:t>
            </a:r>
          </a:p>
          <a:p>
            <a:pPr>
              <a:defRPr sz="2200"/>
            </a:pPr>
            <a:r>
              <a:t>Le dossier est le "conteneur" central. Tout part du dossier.</a:t>
            </a:r>
          </a:p>
          <a:p>
            <a:pPr lvl="1">
              <a:defRPr sz="1800"/>
            </a:pPr>
            <a:r>
              <a:t>  Génération Automatique : Attribution d'un numéro d'ordre unique (ex: DOS-2026-0012).</a:t>
            </a:r>
          </a:p>
          <a:p>
            <a:pPr lvl="1">
              <a:defRPr sz="1800"/>
            </a:pPr>
            <a:r>
              <a:t>  Gestion des Parties : Assignation dynamique de rôles aux clients (Vendeur, Acheteur, Prêteur, Gérant...).</a:t>
            </a:r>
          </a:p>
          <a:p>
            <a:pPr lvl="1">
              <a:defRPr sz="1800"/>
            </a:pPr>
            <a:r>
              <a:t>  Suivi de l'avancement : Workflow paramétrable (Nouveau ➔ En cours ➔ Clôturé/Archivé).</a:t>
            </a:r>
          </a:p>
          <a:p>
            <a:pPr>
              <a:defRPr sz="2200"/>
            </a:pPr>
            <a:r>
              <a:t>🖋️ 3. Moteur d'Actes &amp; Relecture</a:t>
            </a:r>
          </a:p>
          <a:p>
            <a:pPr lvl="1">
              <a:defRPr sz="1800"/>
            </a:pPr>
            <a:r>
              <a:t>  Modèles Intelligents : Traitement automatique de documents Word (`.docx`). L'application injecte les noms, montants, et informations du dossier directement dans l'acte grâce à des balises (`{{ client.nom }}`).</a:t>
            </a:r>
          </a:p>
          <a:p>
            <a:pPr lvl="1">
              <a:defRPr sz="1800"/>
            </a:pPr>
            <a:r>
              <a:t>  Validation Notaire : Circuit de relecture intégré. Les clercs génèrent les actes, le Notaire les valide.</a:t>
            </a:r>
          </a:p>
          <a:p>
            <a:pPr lvl="1">
              <a:defRPr sz="1800"/>
            </a:pPr>
            <a:r>
              <a:t>  Signature Cryptographique : Les actes validés bénéficient d'une empreinte sécurisée (hash SHA-256) garantissant leur intégrité avant archivage.</a:t>
            </a:r>
          </a:p>
          <a:p>
            <a:pPr>
              <a:defRPr sz="2200"/>
            </a:pPr>
            <a:r>
              <a:t>⚖️ 4. Formalités &amp; Conformité OHADA</a:t>
            </a:r>
          </a:p>
          <a:p>
            <a:pPr lvl="1">
              <a:defRPr sz="1800"/>
            </a:pPr>
            <a:r>
              <a:t>  Calculateur de Frais : Moteur de calcul intégré selon les barèmes officiels locaux/OHADA (taux fixes, proportionnels ou dégressifs) pour anticiper les droits d'enregistrement.</a:t>
            </a:r>
          </a:p>
          <a:p>
            <a:pPr lvl="1">
              <a:defRPr sz="1800"/>
            </a:pPr>
            <a:r>
              <a:t>  Suivi des Dépôts : Tableau de bord de suivi chronologique des actes envoyés aux administrations (Cadastre, Impôts, RCCM).</a:t>
            </a:r>
          </a:p>
          <a:p>
            <a:pPr>
              <a:defRPr sz="2200"/>
            </a:pPr>
            <a:r>
              <a:t>💰 5. Comptabilité Notariale stricte (Double Entrée)</a:t>
            </a:r>
          </a:p>
          <a:p>
            <a:pPr>
              <a:defRPr sz="2200"/>
            </a:pPr>
            <a:r>
              <a:t>Le module métier le plus critique, développé pour répondre aux normes comptables des notaires.</a:t>
            </a:r>
          </a:p>
          <a:p>
            <a:pPr lvl="1">
              <a:defRPr sz="1800"/>
            </a:pPr>
            <a:r>
              <a:t>  Séparation des Fonds : Gestion complètement distincte entre la caisse de l'Office (honoraires) et les Comptes Clients (dépôts de garantie, frais de mutation).</a:t>
            </a:r>
          </a:p>
          <a:p>
            <a:pPr lvl="1">
              <a:defRPr sz="1800"/>
            </a:pPr>
            <a:r>
              <a:t>  Pièces Comptables : Génération en un clic des Reçus (avec numérotation stricte) et Factures.</a:t>
            </a:r>
          </a:p>
          <a:p>
            <a:pPr lvl="1">
              <a:defRPr sz="1800"/>
            </a:pPr>
            <a:r>
              <a:t>  Livre Comptable Central : Journaux, Balance Générale et Grand Livre générés automatiquement en temps réel (Partie double respectée).</a:t>
            </a:r>
          </a:p>
          <a:p>
            <a:pPr>
              <a:defRPr sz="2200"/>
            </a:pPr>
            <a:r>
              <a:t>🏛️ 6. Archivage &amp; Répertoire Notarial</a:t>
            </a:r>
          </a:p>
          <a:p>
            <a:pPr lvl="1">
              <a:defRPr sz="1800"/>
            </a:pPr>
            <a:r>
              <a:t>  Clôture : Gel ("Locking") des données du dossier une fois terminé.</a:t>
            </a:r>
          </a:p>
          <a:p>
            <a:pPr lvl="1">
              <a:defRPr sz="1800"/>
            </a:pPr>
            <a:r>
              <a:t>  Répertoire Numérique : Registre officiel des signatures attribuant un Numéro de Répertoire séquentiel annuel, interfaçable avec les registres d'État.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t>🔄 Flow Diagram : Le cycle de vie d'un Dossier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Voici comment un dossier transite d'un module à l'autre dans le quotidien de l'étude.</a:t>
            </a:r>
          </a:p>
          <a:p>
            <a:pPr>
              <a:defRPr sz="2200"/>
            </a:pPr>
            <a:r>
              <a:t>graph TD</a:t>
            </a:r>
          </a:p>
          <a:p>
            <a:pPr>
              <a:defRPr sz="2200"/>
            </a:pPr>
            <a:r>
              <a:t>A([Accueil Client]) --&gt;|Saisie KYC| B(Création Fiche Client)</a:t>
            </a:r>
          </a:p>
          <a:p>
            <a:pPr>
              <a:defRPr sz="2200"/>
            </a:pPr>
            <a:r>
              <a:t>B --&gt; C{Ouverture de Dossier}</a:t>
            </a:r>
          </a:p>
          <a:p>
            <a:pPr>
              <a:defRPr sz="2200"/>
            </a:pPr>
            <a:r>
              <a:t>C --&gt;|Affectation| D[Attribution des rôles &lt;br&gt; Acheteur, Vendeur...]</a:t>
            </a:r>
          </a:p>
          <a:p>
            <a:pPr>
              <a:defRPr sz="2200"/>
            </a:pPr>
            <a:r>
              <a:t>D --&gt; E(Rédaction de l'Acte)</a:t>
            </a:r>
          </a:p>
          <a:p>
            <a:pPr>
              <a:defRPr sz="2200"/>
            </a:pPr>
            <a:r>
              <a:t>E --&gt;|Génération Word auto| F[Validation par le Notaire]</a:t>
            </a:r>
          </a:p>
          <a:p>
            <a:pPr>
              <a:defRPr sz="2200"/>
            </a:pPr>
            <a:r>
              <a:t>F --&gt;|Approbation &amp; Empreinte| G(Signature de l'Acte)</a:t>
            </a:r>
          </a:p>
          <a:p>
            <a:pPr>
              <a:defRPr sz="2200"/>
            </a:pPr>
            <a:r>
              <a:t>G --&gt; H{Suivi POST-Signature}</a:t>
            </a:r>
          </a:p>
          <a:p>
            <a:pPr>
              <a:defRPr sz="2200"/>
            </a:pPr>
            <a:r>
              <a:t>H --&gt;|Évaluation Financière| I[Calculateur Frais OHADA]</a:t>
            </a:r>
          </a:p>
          <a:p>
            <a:pPr>
              <a:defRPr sz="2200"/>
            </a:pPr>
            <a:r>
              <a:t>I --&gt; J[Paiement &amp; Reçu &lt;br&gt; Comptabilité Client]</a:t>
            </a:r>
          </a:p>
          <a:p>
            <a:pPr>
              <a:defRPr sz="2200"/>
            </a:pPr>
            <a:r>
              <a:t>H --&gt;|Juridique| K[Formalités administratives &lt;br&gt; Enregistrement / Impôts]</a:t>
            </a:r>
          </a:p>
          <a:p>
            <a:pPr>
              <a:defRPr sz="2200"/>
            </a:pPr>
            <a:r>
              <a:t>K --&gt; L[Facturation Honoraires &lt;br&gt; Comptabilité Étude]</a:t>
            </a:r>
          </a:p>
          <a:p>
            <a:pPr>
              <a:defRPr sz="2200"/>
            </a:pPr>
            <a:r>
              <a:t>J --&gt; M</a:t>
            </a:r>
          </a:p>
          <a:p>
            <a:pPr>
              <a:defRPr sz="2200"/>
            </a:pPr>
            <a:r>
              <a:t>L --&gt; M((Archivage Final &lt;br&gt; Inscription au Répertoire))</a:t>
            </a:r>
          </a:p>
          <a:p>
            <a:pPr>
              <a:defRPr sz="2200"/>
            </a:pPr>
            <a:r>
              <a:t>classDef comptabilite fill:#2d6a4f,stroke:#fff,stroke-width:2px,color:#fff;</a:t>
            </a:r>
          </a:p>
          <a:p>
            <a:pPr>
              <a:defRPr sz="2200"/>
            </a:pPr>
            <a:r>
              <a:t>classDef juridique fill:#023e8a,stroke:#fff,stroke-width:2px,color:#fff;</a:t>
            </a:r>
          </a:p>
          <a:p>
            <a:pPr>
              <a:defRPr sz="2200"/>
            </a:pPr>
            <a:r>
              <a:t>classDef administratif fill:#b08968,stroke:#fff,stroke-width:2px,color:#fff;</a:t>
            </a:r>
          </a:p>
          <a:p>
            <a:pPr>
              <a:defRPr sz="2200"/>
            </a:pPr>
            <a:r>
              <a:t>class J,L comptabilite;</a:t>
            </a:r>
          </a:p>
          <a:p>
            <a:pPr>
              <a:defRPr sz="2200"/>
            </a:pPr>
            <a:r>
              <a:t>class E,F,G,K juridique;</a:t>
            </a:r>
          </a:p>
          <a:p>
            <a:pPr>
              <a:defRPr sz="2200"/>
            </a:pPr>
            <a:r>
              <a:t>class A,B,C,D,M administratif;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t>🔐 Sécurité &amp; Accès (RBAC)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Le système offre une gestion fine des droits d'accès basée sur les rôles (Role-Based Access Control) :</a:t>
            </a:r>
          </a:p>
          <a:p>
            <a:pPr lvl="1">
              <a:defRPr sz="1800"/>
            </a:pPr>
            <a:r>
              <a:t>  ADMIN / NOTAIRE : Accès total, validation des actes, accès aux bilans comptables, configuration des paramètres de l'étude.</a:t>
            </a:r>
          </a:p>
          <a:p>
            <a:pPr lvl="1">
              <a:defRPr sz="1800"/>
            </a:pPr>
            <a:r>
              <a:t>  CLERC : Création de dossiers, rédaction des actes (brouillons), suivi des formalités. Pas d'accès au grand livre comptable.</a:t>
            </a:r>
          </a:p>
          <a:p>
            <a:pPr lvl="1">
              <a:defRPr sz="1800"/>
            </a:pPr>
            <a:r>
              <a:t>  COMPTABLE : Accès spécifique au module financier (Encaissements, Reçus, Grand Livre, Facturation), sans droits de validation juridique sur les actes.</a:t>
            </a:r>
          </a:p>
          <a:p>
            <a:pPr>
              <a:defRPr sz="2200"/>
            </a:pPr>
            <a:r>
              <a:t>AGEN-OHADA v1.0 - Pensé pour l'excellence et la réactivité des Notaires modernes.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4F46E5"/>
                </a:solidFill>
              </a:defRPr>
            </a:pPr>
            <a:r>
              <a:t>AGEN-OHADA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Pour l'excellence et la réactivité des Notaires modernes.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