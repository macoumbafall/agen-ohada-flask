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4F46E5"/>
                </a:solidFill>
              </a:defRPr>
            </a:pPr>
            <a:r>
              <a:t>AGEN-OHADA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Application de Gestion d'Études Notariales</a:t>
            </a:r>
          </a:p>
          <a:p>
            <a:r>
              <a:t>Solution moderne, OHADA-compliant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🏗️ 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dirty="0"/>
          </a:p>
          <a:p>
            <a:pPr>
              <a:defRPr sz="2200"/>
            </a:pPr>
            <a:r>
              <a:rPr sz="2000" dirty="0"/>
              <a:t>AGEN-OHADA </a:t>
            </a:r>
            <a:r>
              <a:rPr sz="2000" dirty="0" err="1"/>
              <a:t>est</a:t>
            </a:r>
            <a:r>
              <a:rPr sz="2000" dirty="0"/>
              <a:t> </a:t>
            </a:r>
            <a:r>
              <a:rPr sz="2000" dirty="0" err="1"/>
              <a:t>une</a:t>
            </a:r>
            <a:r>
              <a:rPr sz="2000" dirty="0"/>
              <a:t> solution </a:t>
            </a:r>
            <a:r>
              <a:rPr sz="2000" dirty="0" err="1"/>
              <a:t>logicielle</a:t>
            </a:r>
            <a:r>
              <a:rPr sz="2000" dirty="0"/>
              <a:t> </a:t>
            </a:r>
            <a:r>
              <a:rPr sz="2000" dirty="0" err="1"/>
              <a:t>sur-mesure</a:t>
            </a:r>
            <a:r>
              <a:rPr sz="2000" dirty="0"/>
              <a:t>, </a:t>
            </a:r>
            <a:r>
              <a:rPr sz="2000" dirty="0" err="1"/>
              <a:t>moderne</a:t>
            </a:r>
            <a:r>
              <a:rPr sz="2000" dirty="0"/>
              <a:t> et </a:t>
            </a:r>
            <a:r>
              <a:rPr sz="2000" dirty="0" err="1"/>
              <a:t>sécurisée</a:t>
            </a:r>
            <a:r>
              <a:rPr sz="2000" dirty="0"/>
              <a:t>, </a:t>
            </a:r>
            <a:r>
              <a:rPr sz="2000" dirty="0" err="1"/>
              <a:t>conçue</a:t>
            </a:r>
            <a:r>
              <a:rPr sz="2000" dirty="0"/>
              <a:t> </a:t>
            </a:r>
            <a:r>
              <a:rPr sz="2000" dirty="0" err="1"/>
              <a:t>spécifiquement</a:t>
            </a:r>
            <a:r>
              <a:rPr sz="2000" dirty="0"/>
              <a:t> pour </a:t>
            </a:r>
            <a:r>
              <a:rPr sz="2000" dirty="0" err="1"/>
              <a:t>répondre</a:t>
            </a:r>
            <a:r>
              <a:rPr sz="2000" dirty="0"/>
              <a:t> aux </a:t>
            </a:r>
            <a:r>
              <a:rPr sz="2000" dirty="0" err="1"/>
              <a:t>exigences</a:t>
            </a:r>
            <a:r>
              <a:rPr sz="2000" dirty="0"/>
              <a:t> des </a:t>
            </a:r>
            <a:r>
              <a:rPr sz="2000" dirty="0" err="1"/>
              <a:t>études</a:t>
            </a:r>
            <a:r>
              <a:rPr sz="2000" dirty="0"/>
              <a:t> </a:t>
            </a:r>
            <a:r>
              <a:rPr sz="2000" dirty="0" err="1"/>
              <a:t>notariales</a:t>
            </a:r>
            <a:r>
              <a:rPr sz="2000" dirty="0"/>
              <a:t> </a:t>
            </a:r>
            <a:r>
              <a:rPr sz="2000" dirty="0" err="1"/>
              <a:t>opérant</a:t>
            </a:r>
            <a:r>
              <a:rPr sz="2000" dirty="0"/>
              <a:t> </a:t>
            </a:r>
            <a:r>
              <a:rPr sz="2000" dirty="0" err="1"/>
              <a:t>dans</a:t>
            </a:r>
            <a:r>
              <a:rPr sz="2000" dirty="0"/>
              <a:t> </a:t>
            </a:r>
            <a:r>
              <a:rPr sz="2000" dirty="0" err="1"/>
              <a:t>l'espace</a:t>
            </a:r>
            <a:r>
              <a:rPr sz="2000" dirty="0"/>
              <a:t> </a:t>
            </a:r>
            <a:r>
              <a:rPr sz="2000" dirty="0" err="1"/>
              <a:t>juridique</a:t>
            </a:r>
            <a:r>
              <a:rPr sz="2000" dirty="0"/>
              <a:t> OHADA (</a:t>
            </a:r>
            <a:r>
              <a:rPr sz="2000" dirty="0" err="1"/>
              <a:t>Organisation</a:t>
            </a:r>
            <a:r>
              <a:rPr sz="2000" dirty="0"/>
              <a:t> pour </a:t>
            </a:r>
            <a:r>
              <a:rPr sz="2000" dirty="0" err="1"/>
              <a:t>l'Harmonisation</a:t>
            </a:r>
            <a:r>
              <a:rPr sz="2000" dirty="0"/>
              <a:t> en </a:t>
            </a:r>
            <a:r>
              <a:rPr sz="2000" dirty="0" err="1"/>
              <a:t>Afrique</a:t>
            </a:r>
            <a:r>
              <a:rPr sz="2000" dirty="0"/>
              <a:t> du </a:t>
            </a:r>
            <a:r>
              <a:rPr sz="2000" dirty="0" err="1"/>
              <a:t>Droit</a:t>
            </a:r>
            <a:r>
              <a:rPr sz="2000" dirty="0"/>
              <a:t> des Affaires).</a:t>
            </a:r>
          </a:p>
          <a:p>
            <a:pPr>
              <a:defRPr sz="2200"/>
            </a:pPr>
            <a:r>
              <a:rPr sz="2000" dirty="0" err="1"/>
              <a:t>L'application</a:t>
            </a:r>
            <a:r>
              <a:rPr sz="2000" dirty="0"/>
              <a:t> </a:t>
            </a:r>
            <a:r>
              <a:rPr sz="2000" dirty="0" err="1"/>
              <a:t>centralise</a:t>
            </a:r>
            <a:r>
              <a:rPr sz="2000" dirty="0"/>
              <a:t> et </a:t>
            </a:r>
            <a:r>
              <a:rPr sz="2000" dirty="0" err="1"/>
              <a:t>automatise</a:t>
            </a:r>
            <a:r>
              <a:rPr sz="2000" dirty="0"/>
              <a:t> </a:t>
            </a:r>
            <a:r>
              <a:rPr sz="2000" dirty="0" err="1"/>
              <a:t>l'ensemble</a:t>
            </a:r>
            <a:r>
              <a:rPr sz="2000" dirty="0"/>
              <a:t> du cycle de vie </a:t>
            </a:r>
            <a:r>
              <a:rPr sz="2000" dirty="0" err="1"/>
              <a:t>d'une</a:t>
            </a:r>
            <a:r>
              <a:rPr sz="2000" dirty="0"/>
              <a:t> affaire </a:t>
            </a:r>
            <a:r>
              <a:rPr sz="2000" dirty="0" err="1"/>
              <a:t>notariale</a:t>
            </a:r>
            <a:r>
              <a:rPr sz="2000" dirty="0"/>
              <a:t> : de </a:t>
            </a:r>
            <a:r>
              <a:rPr sz="2000" dirty="0" err="1"/>
              <a:t>l'accueil</a:t>
            </a:r>
            <a:r>
              <a:rPr sz="2000" dirty="0"/>
              <a:t> du client à </a:t>
            </a:r>
            <a:r>
              <a:rPr sz="2000" dirty="0" err="1"/>
              <a:t>l'archivage</a:t>
            </a:r>
            <a:r>
              <a:rPr sz="2000" dirty="0"/>
              <a:t> final de </a:t>
            </a:r>
            <a:r>
              <a:rPr sz="2000" dirty="0" err="1"/>
              <a:t>l'acte</a:t>
            </a:r>
            <a:r>
              <a:rPr sz="2000" dirty="0"/>
              <a:t>, en passant par la </a:t>
            </a:r>
            <a:r>
              <a:rPr sz="2000" dirty="0" err="1"/>
              <a:t>rédaction</a:t>
            </a:r>
            <a:r>
              <a:rPr sz="2000" dirty="0"/>
              <a:t>, le </a:t>
            </a:r>
            <a:r>
              <a:rPr sz="2000" dirty="0" err="1"/>
              <a:t>calcul</a:t>
            </a:r>
            <a:r>
              <a:rPr sz="2000" dirty="0"/>
              <a:t> des </a:t>
            </a:r>
            <a:r>
              <a:rPr sz="2000" dirty="0" err="1"/>
              <a:t>droits</a:t>
            </a:r>
            <a:r>
              <a:rPr sz="2000" dirty="0"/>
              <a:t> </a:t>
            </a:r>
            <a:r>
              <a:rPr sz="2000" dirty="0" err="1"/>
              <a:t>d'enregistrement</a:t>
            </a:r>
            <a:r>
              <a:rPr sz="2000" dirty="0"/>
              <a:t> et la </a:t>
            </a:r>
            <a:r>
              <a:rPr sz="2000" dirty="0" err="1"/>
              <a:t>comptabilité</a:t>
            </a:r>
            <a:r>
              <a:rPr sz="2000" dirty="0"/>
              <a:t> </a:t>
            </a:r>
            <a:r>
              <a:rPr sz="2000" dirty="0" err="1"/>
              <a:t>stricte</a:t>
            </a:r>
            <a:r>
              <a:rPr sz="2000" dirty="0"/>
              <a:t> de </a:t>
            </a:r>
            <a:r>
              <a:rPr sz="2000" dirty="0" err="1"/>
              <a:t>l'étude</a:t>
            </a:r>
            <a:r>
              <a:rPr sz="2000" dirty="0"/>
              <a:t>.</a:t>
            </a:r>
          </a:p>
          <a:p>
            <a:pPr>
              <a:defRPr sz="2200"/>
            </a:pPr>
            <a:r>
              <a:rPr sz="2000" dirty="0"/>
              <a:t>AGEN repose </a:t>
            </a:r>
            <a:r>
              <a:rPr sz="2000" dirty="0" err="1"/>
              <a:t>sur</a:t>
            </a:r>
            <a:r>
              <a:rPr sz="2000" dirty="0"/>
              <a:t> des </a:t>
            </a:r>
            <a:r>
              <a:rPr sz="2000" dirty="0" err="1"/>
              <a:t>fondations</a:t>
            </a:r>
            <a:r>
              <a:rPr sz="2000" dirty="0"/>
              <a:t> techniques </a:t>
            </a:r>
            <a:r>
              <a:rPr sz="2000" dirty="0" err="1"/>
              <a:t>robustes</a:t>
            </a:r>
            <a:r>
              <a:rPr sz="2000" dirty="0"/>
              <a:t>, </a:t>
            </a:r>
            <a:r>
              <a:rPr sz="2000" dirty="0" err="1"/>
              <a:t>garantissant</a:t>
            </a:r>
            <a:r>
              <a:rPr sz="2000" dirty="0"/>
              <a:t> </a:t>
            </a:r>
            <a:r>
              <a:rPr sz="2000" dirty="0" err="1"/>
              <a:t>sécurité</a:t>
            </a:r>
            <a:r>
              <a:rPr sz="2000" dirty="0"/>
              <a:t>, </a:t>
            </a:r>
            <a:r>
              <a:rPr sz="2000" dirty="0" err="1"/>
              <a:t>rapidité</a:t>
            </a:r>
            <a:r>
              <a:rPr sz="2000" dirty="0"/>
              <a:t> et </a:t>
            </a:r>
            <a:r>
              <a:rPr sz="2000" dirty="0" err="1"/>
              <a:t>maintenabilité</a:t>
            </a:r>
            <a:r>
              <a:rPr sz="2000" dirty="0"/>
              <a:t>. </a:t>
            </a:r>
            <a:r>
              <a:rPr sz="2000" dirty="0" err="1"/>
              <a:t>L'architecture</a:t>
            </a:r>
            <a:r>
              <a:rPr sz="2000" dirty="0"/>
              <a:t> suit le </a:t>
            </a:r>
            <a:r>
              <a:rPr sz="2000" dirty="0" err="1"/>
              <a:t>modèle</a:t>
            </a:r>
            <a:r>
              <a:rPr sz="2000" dirty="0"/>
              <a:t> MVC (</a:t>
            </a:r>
            <a:r>
              <a:rPr sz="2000" dirty="0" err="1"/>
              <a:t>Modèle-Vue-Contrôleur</a:t>
            </a:r>
            <a:r>
              <a:rPr sz="2000" dirty="0"/>
              <a:t>) avec </a:t>
            </a:r>
            <a:r>
              <a:rPr sz="2000" dirty="0" err="1"/>
              <a:t>une</a:t>
            </a:r>
            <a:r>
              <a:rPr sz="2000" dirty="0"/>
              <a:t> </a:t>
            </a:r>
            <a:r>
              <a:rPr sz="2000" dirty="0" err="1"/>
              <a:t>stricte</a:t>
            </a:r>
            <a:r>
              <a:rPr sz="2000" dirty="0"/>
              <a:t> </a:t>
            </a:r>
            <a:r>
              <a:rPr sz="2000" dirty="0" err="1"/>
              <a:t>séparation</a:t>
            </a:r>
            <a:r>
              <a:rPr sz="2000" dirty="0"/>
              <a:t> des </a:t>
            </a:r>
            <a:r>
              <a:rPr sz="2000" dirty="0" err="1"/>
              <a:t>responsabilités</a:t>
            </a:r>
            <a:r>
              <a:rPr sz="2000" dirty="0"/>
              <a:t> (Blueprint Pattern).</a:t>
            </a:r>
          </a:p>
          <a:p>
            <a:pPr>
              <a:defRPr sz="2200"/>
            </a:pPr>
            <a:r>
              <a:rPr sz="2000" dirty="0" smtClean="0"/>
              <a:t>Stack </a:t>
            </a:r>
            <a:r>
              <a:rPr sz="2000" dirty="0"/>
              <a:t>Technique </a:t>
            </a:r>
            <a:r>
              <a:rPr sz="2000" dirty="0" err="1"/>
              <a:t>Détaillée</a:t>
            </a:r>
            <a:r>
              <a:rPr sz="2000" dirty="0"/>
              <a:t> :</a:t>
            </a:r>
          </a:p>
          <a:p>
            <a:pPr lvl="1">
              <a:defRPr sz="1800"/>
            </a:pPr>
            <a:r>
              <a:rPr sz="1800" dirty="0"/>
              <a:t>  Backend : Python 3, Framework Flask 3.x.</a:t>
            </a:r>
          </a:p>
          <a:p>
            <a:pPr lvl="1">
              <a:defRPr sz="1800"/>
            </a:pPr>
            <a:r>
              <a:rPr sz="1800" dirty="0"/>
              <a:t>  Base de </a:t>
            </a:r>
            <a:r>
              <a:rPr sz="1800" dirty="0" err="1"/>
              <a:t>données</a:t>
            </a:r>
            <a:r>
              <a:rPr sz="1800" dirty="0"/>
              <a:t> : </a:t>
            </a:r>
            <a:r>
              <a:rPr sz="1800" dirty="0" err="1"/>
              <a:t>PostgreSQL</a:t>
            </a:r>
            <a:r>
              <a:rPr sz="1800" dirty="0"/>
              <a:t> avec </a:t>
            </a:r>
            <a:r>
              <a:rPr sz="1800" dirty="0" err="1"/>
              <a:t>SQLAlchemy</a:t>
            </a:r>
            <a:r>
              <a:rPr sz="1800" dirty="0"/>
              <a:t> (ORM) et Alembic pour les migrations.</a:t>
            </a:r>
          </a:p>
          <a:p>
            <a:pPr lvl="1">
              <a:defRPr sz="1800"/>
            </a:pPr>
            <a:r>
              <a:rPr sz="1800" dirty="0"/>
              <a:t>  Frontend : HTML5, </a:t>
            </a:r>
            <a:r>
              <a:rPr sz="1800" dirty="0" err="1"/>
              <a:t>TailwindCSS</a:t>
            </a:r>
            <a:r>
              <a:rPr sz="1800" dirty="0"/>
              <a:t> (pour un design </a:t>
            </a:r>
            <a:r>
              <a:rPr sz="1800" dirty="0" err="1"/>
              <a:t>moderne</a:t>
            </a:r>
            <a:r>
              <a:rPr sz="1800" dirty="0"/>
              <a:t> et </a:t>
            </a:r>
            <a:r>
              <a:rPr sz="1800" dirty="0" err="1"/>
              <a:t>totalement</a:t>
            </a:r>
            <a:r>
              <a:rPr sz="1800" dirty="0"/>
              <a:t> responsive), Alpine.js (pour </a:t>
            </a:r>
            <a:r>
              <a:rPr sz="1800" dirty="0" err="1"/>
              <a:t>l'interactivité</a:t>
            </a:r>
            <a:r>
              <a:rPr sz="1800" dirty="0"/>
              <a:t>).</a:t>
            </a:r>
          </a:p>
          <a:p>
            <a:pPr lvl="1">
              <a:defRPr sz="1800"/>
            </a:pPr>
            <a:r>
              <a:rPr sz="1800" dirty="0"/>
              <a:t>  </a:t>
            </a:r>
            <a:r>
              <a:rPr sz="1800" dirty="0" err="1"/>
              <a:t>Génération</a:t>
            </a:r>
            <a:r>
              <a:rPr sz="1800" dirty="0"/>
              <a:t> de Documents : </a:t>
            </a:r>
            <a:r>
              <a:rPr sz="1800" dirty="0" err="1"/>
              <a:t>Publipostage</a:t>
            </a:r>
            <a:r>
              <a:rPr sz="1800" dirty="0"/>
              <a:t> </a:t>
            </a:r>
            <a:r>
              <a:rPr sz="1800" dirty="0" err="1"/>
              <a:t>avancé</a:t>
            </a:r>
            <a:r>
              <a:rPr sz="1800" dirty="0"/>
              <a:t> </a:t>
            </a:r>
            <a:r>
              <a:rPr sz="1800" dirty="0" err="1"/>
              <a:t>sur</a:t>
            </a:r>
            <a:r>
              <a:rPr sz="1800" dirty="0"/>
              <a:t> </a:t>
            </a:r>
            <a:r>
              <a:rPr sz="1800" dirty="0" err="1"/>
              <a:t>modèles</a:t>
            </a:r>
            <a:r>
              <a:rPr sz="1800" dirty="0"/>
              <a:t> `.</a:t>
            </a:r>
            <a:r>
              <a:rPr sz="1800" dirty="0" err="1"/>
              <a:t>docx</a:t>
            </a:r>
            <a:r>
              <a:rPr sz="1800" dirty="0"/>
              <a:t>` (Microsoft Word) et Markdown.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rPr dirty="0"/>
              <a:t>✨ </a:t>
            </a:r>
            <a:r>
              <a:rPr dirty="0" err="1"/>
              <a:t>Fonctionnalités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 (Modules)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dirty="0"/>
          </a:p>
          <a:p>
            <a:pPr>
              <a:defRPr sz="2200"/>
            </a:pPr>
            <a:r>
              <a:rPr dirty="0" err="1"/>
              <a:t>L'application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divisée</a:t>
            </a:r>
            <a:r>
              <a:rPr dirty="0"/>
              <a:t> en 6 modules </a:t>
            </a:r>
            <a:r>
              <a:rPr dirty="0" err="1"/>
              <a:t>intégrés</a:t>
            </a:r>
            <a:r>
              <a:rPr dirty="0"/>
              <a:t> qui </a:t>
            </a:r>
            <a:r>
              <a:rPr dirty="0" err="1"/>
              <a:t>communiquent</a:t>
            </a:r>
            <a:r>
              <a:rPr dirty="0"/>
              <a:t> </a:t>
            </a:r>
            <a:r>
              <a:rPr dirty="0" err="1"/>
              <a:t>intelligemment</a:t>
            </a:r>
            <a:r>
              <a:rPr dirty="0"/>
              <a:t> entre </a:t>
            </a:r>
            <a:r>
              <a:rPr dirty="0" err="1"/>
              <a:t>eux</a:t>
            </a:r>
            <a:r>
              <a:rPr dirty="0"/>
              <a:t>.</a:t>
            </a:r>
          </a:p>
          <a:p>
            <a:pPr>
              <a:defRPr sz="2200"/>
            </a:pPr>
            <a:r>
              <a:rPr dirty="0"/>
              <a:t>👥 1. </a:t>
            </a:r>
            <a:r>
              <a:rPr dirty="0" err="1"/>
              <a:t>Gestion</a:t>
            </a:r>
            <a:r>
              <a:rPr dirty="0"/>
              <a:t> des Clients (Module KYC)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Centralisation</a:t>
            </a:r>
            <a:r>
              <a:rPr dirty="0"/>
              <a:t> : </a:t>
            </a:r>
            <a:r>
              <a:rPr dirty="0" err="1"/>
              <a:t>Enregistrement</a:t>
            </a:r>
            <a:r>
              <a:rPr dirty="0"/>
              <a:t> des </a:t>
            </a:r>
            <a:r>
              <a:rPr dirty="0" err="1"/>
              <a:t>personnes</a:t>
            </a:r>
            <a:r>
              <a:rPr dirty="0"/>
              <a:t> physiques et </a:t>
            </a:r>
            <a:r>
              <a:rPr dirty="0" err="1"/>
              <a:t>morales</a:t>
            </a:r>
            <a:r>
              <a:rPr dirty="0"/>
              <a:t>.</a:t>
            </a:r>
          </a:p>
          <a:p>
            <a:pPr lvl="1">
              <a:defRPr sz="1800"/>
            </a:pPr>
            <a:r>
              <a:rPr dirty="0"/>
              <a:t>  KYC (Know Your Customer) : </a:t>
            </a:r>
            <a:r>
              <a:rPr dirty="0" err="1"/>
              <a:t>Suivi</a:t>
            </a:r>
            <a:r>
              <a:rPr dirty="0"/>
              <a:t> de la </a:t>
            </a:r>
            <a:r>
              <a:rPr dirty="0" err="1"/>
              <a:t>complétude</a:t>
            </a:r>
            <a:r>
              <a:rPr dirty="0"/>
              <a:t> du dossier client (</a:t>
            </a:r>
            <a:r>
              <a:rPr dirty="0" err="1"/>
              <a:t>PIèce</a:t>
            </a:r>
            <a:r>
              <a:rPr dirty="0"/>
              <a:t> </a:t>
            </a:r>
            <a:r>
              <a:rPr dirty="0" err="1"/>
              <a:t>d'identité</a:t>
            </a:r>
            <a:r>
              <a:rPr dirty="0"/>
              <a:t>, </a:t>
            </a:r>
            <a:r>
              <a:rPr dirty="0" err="1"/>
              <a:t>justificatifs</a:t>
            </a:r>
            <a:r>
              <a:rPr dirty="0"/>
              <a:t> de domicile, profession).</a:t>
            </a:r>
          </a:p>
          <a:p>
            <a:pPr lvl="1">
              <a:defRPr sz="1800"/>
            </a:pPr>
            <a:r>
              <a:rPr dirty="0"/>
              <a:t>  Liaisons Multiples : Un </a:t>
            </a:r>
            <a:r>
              <a:rPr dirty="0" err="1"/>
              <a:t>même</a:t>
            </a:r>
            <a:r>
              <a:rPr dirty="0"/>
              <a:t> client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intervenir</a:t>
            </a:r>
            <a:r>
              <a:rPr dirty="0"/>
              <a:t> </a:t>
            </a:r>
            <a:r>
              <a:rPr dirty="0" err="1"/>
              <a:t>dans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affaires de </a:t>
            </a:r>
            <a:r>
              <a:rPr dirty="0" err="1"/>
              <a:t>l'étude</a:t>
            </a:r>
            <a:r>
              <a:rPr dirty="0"/>
              <a:t> avec des </a:t>
            </a:r>
            <a:r>
              <a:rPr dirty="0" err="1"/>
              <a:t>rôles</a:t>
            </a:r>
            <a:r>
              <a:rPr dirty="0"/>
              <a:t> </a:t>
            </a:r>
            <a:r>
              <a:rPr dirty="0" err="1"/>
              <a:t>différents</a:t>
            </a:r>
            <a:r>
              <a:rPr dirty="0"/>
              <a:t>.</a:t>
            </a:r>
          </a:p>
          <a:p>
            <a:pPr>
              <a:defRPr sz="2200"/>
            </a:pPr>
            <a:r>
              <a:rPr dirty="0"/>
              <a:t>📂 2. </a:t>
            </a:r>
            <a:r>
              <a:rPr dirty="0" err="1"/>
              <a:t>Gestion</a:t>
            </a:r>
            <a:r>
              <a:rPr dirty="0"/>
              <a:t> des Dossiers</a:t>
            </a:r>
          </a:p>
          <a:p>
            <a:pPr>
              <a:defRPr sz="2200"/>
            </a:pPr>
            <a:r>
              <a:rPr dirty="0"/>
              <a:t>Le dossier </a:t>
            </a:r>
            <a:r>
              <a:rPr dirty="0" err="1"/>
              <a:t>est</a:t>
            </a:r>
            <a:r>
              <a:rPr dirty="0"/>
              <a:t> le "</a:t>
            </a:r>
            <a:r>
              <a:rPr dirty="0" err="1"/>
              <a:t>conteneur</a:t>
            </a:r>
            <a:r>
              <a:rPr dirty="0"/>
              <a:t>" central. Tout part du dossier.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Génération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: Attribution d'un </a:t>
            </a:r>
            <a:r>
              <a:rPr dirty="0" err="1"/>
              <a:t>numéro</a:t>
            </a:r>
            <a:r>
              <a:rPr dirty="0"/>
              <a:t> </a:t>
            </a:r>
            <a:r>
              <a:rPr dirty="0" err="1"/>
              <a:t>d'ordre</a:t>
            </a:r>
            <a:r>
              <a:rPr dirty="0"/>
              <a:t> unique (ex: DOS-2026-0012).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Gestion</a:t>
            </a:r>
            <a:r>
              <a:rPr dirty="0"/>
              <a:t> des Parties : Assignation </a:t>
            </a:r>
            <a:r>
              <a:rPr dirty="0" err="1"/>
              <a:t>dynamique</a:t>
            </a:r>
            <a:r>
              <a:rPr dirty="0"/>
              <a:t> de </a:t>
            </a:r>
            <a:r>
              <a:rPr dirty="0" err="1"/>
              <a:t>rôles</a:t>
            </a:r>
            <a:r>
              <a:rPr dirty="0"/>
              <a:t> aux clients (</a:t>
            </a:r>
            <a:r>
              <a:rPr dirty="0" err="1"/>
              <a:t>Vendeur</a:t>
            </a:r>
            <a:r>
              <a:rPr dirty="0"/>
              <a:t>, </a:t>
            </a:r>
            <a:r>
              <a:rPr dirty="0" err="1"/>
              <a:t>Acheteur</a:t>
            </a:r>
            <a:r>
              <a:rPr dirty="0"/>
              <a:t>, </a:t>
            </a:r>
            <a:r>
              <a:rPr dirty="0" err="1"/>
              <a:t>Prêteur</a:t>
            </a:r>
            <a:r>
              <a:rPr dirty="0"/>
              <a:t>, </a:t>
            </a:r>
            <a:r>
              <a:rPr dirty="0" err="1"/>
              <a:t>Gérant</a:t>
            </a:r>
            <a:r>
              <a:rPr dirty="0"/>
              <a:t>...).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Suivi</a:t>
            </a:r>
            <a:r>
              <a:rPr dirty="0"/>
              <a:t> de </a:t>
            </a:r>
            <a:r>
              <a:rPr dirty="0" err="1"/>
              <a:t>l'avancement</a:t>
            </a:r>
            <a:r>
              <a:rPr dirty="0"/>
              <a:t> : Workflow </a:t>
            </a:r>
            <a:r>
              <a:rPr dirty="0" err="1"/>
              <a:t>paramétrable</a:t>
            </a:r>
            <a:r>
              <a:rPr dirty="0"/>
              <a:t> (Nouveau ➔ En </a:t>
            </a:r>
            <a:r>
              <a:rPr dirty="0" err="1"/>
              <a:t>cours</a:t>
            </a:r>
            <a:r>
              <a:rPr dirty="0"/>
              <a:t> ➔ </a:t>
            </a:r>
            <a:r>
              <a:rPr dirty="0" err="1"/>
              <a:t>Clôturé</a:t>
            </a:r>
            <a:r>
              <a:rPr dirty="0"/>
              <a:t>/</a:t>
            </a:r>
            <a:r>
              <a:rPr dirty="0" err="1"/>
              <a:t>Archivé</a:t>
            </a:r>
            <a:r>
              <a:rPr dirty="0"/>
              <a:t>).</a:t>
            </a:r>
          </a:p>
          <a:p>
            <a:pPr>
              <a:defRPr sz="2200"/>
            </a:pPr>
            <a:r>
              <a:rPr dirty="0"/>
              <a:t>🖋️ 3. </a:t>
            </a:r>
            <a:r>
              <a:rPr dirty="0" err="1"/>
              <a:t>Moteur</a:t>
            </a:r>
            <a:r>
              <a:rPr dirty="0"/>
              <a:t> </a:t>
            </a:r>
            <a:r>
              <a:rPr dirty="0" err="1"/>
              <a:t>d'Actes</a:t>
            </a:r>
            <a:r>
              <a:rPr dirty="0"/>
              <a:t> &amp; </a:t>
            </a:r>
            <a:r>
              <a:rPr dirty="0" err="1"/>
              <a:t>Relecture</a:t>
            </a:r>
            <a:endParaRPr dirty="0"/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Modèles</a:t>
            </a:r>
            <a:r>
              <a:rPr dirty="0"/>
              <a:t> </a:t>
            </a:r>
            <a:r>
              <a:rPr dirty="0" err="1"/>
              <a:t>Intelligents</a:t>
            </a:r>
            <a:r>
              <a:rPr dirty="0"/>
              <a:t> :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de documents Word (`.</a:t>
            </a:r>
            <a:r>
              <a:rPr dirty="0" err="1"/>
              <a:t>docx</a:t>
            </a:r>
            <a:r>
              <a:rPr dirty="0"/>
              <a:t>`). </a:t>
            </a:r>
            <a:r>
              <a:rPr dirty="0" err="1"/>
              <a:t>L'application</a:t>
            </a:r>
            <a:r>
              <a:rPr dirty="0"/>
              <a:t> </a:t>
            </a:r>
            <a:r>
              <a:rPr dirty="0" err="1"/>
              <a:t>injecte</a:t>
            </a:r>
            <a:r>
              <a:rPr dirty="0"/>
              <a:t> les </a:t>
            </a:r>
            <a:r>
              <a:rPr dirty="0" err="1"/>
              <a:t>noms</a:t>
            </a:r>
            <a:r>
              <a:rPr dirty="0"/>
              <a:t>, </a:t>
            </a:r>
            <a:r>
              <a:rPr dirty="0" err="1"/>
              <a:t>montants</a:t>
            </a:r>
            <a:r>
              <a:rPr dirty="0"/>
              <a:t>, et </a:t>
            </a:r>
            <a:r>
              <a:rPr dirty="0" err="1"/>
              <a:t>informations</a:t>
            </a:r>
            <a:r>
              <a:rPr dirty="0"/>
              <a:t> du dossier </a:t>
            </a:r>
            <a:r>
              <a:rPr dirty="0" err="1"/>
              <a:t>directement</a:t>
            </a:r>
            <a:r>
              <a:rPr dirty="0"/>
              <a:t> </a:t>
            </a:r>
            <a:r>
              <a:rPr dirty="0" err="1"/>
              <a:t>dans</a:t>
            </a:r>
            <a:r>
              <a:rPr dirty="0"/>
              <a:t> </a:t>
            </a:r>
            <a:r>
              <a:rPr dirty="0" err="1"/>
              <a:t>l'acte</a:t>
            </a:r>
            <a:r>
              <a:rPr dirty="0"/>
              <a:t> grâce à des </a:t>
            </a:r>
            <a:r>
              <a:rPr dirty="0" err="1"/>
              <a:t>balises</a:t>
            </a:r>
            <a:r>
              <a:rPr dirty="0"/>
              <a:t> (`{{ </a:t>
            </a:r>
            <a:r>
              <a:rPr dirty="0" err="1"/>
              <a:t>client.nom</a:t>
            </a:r>
            <a:r>
              <a:rPr dirty="0"/>
              <a:t> }}`).</a:t>
            </a:r>
          </a:p>
          <a:p>
            <a:pPr lvl="1">
              <a:defRPr sz="1800"/>
            </a:pPr>
            <a:r>
              <a:rPr dirty="0"/>
              <a:t>  Validation </a:t>
            </a:r>
            <a:r>
              <a:rPr dirty="0" err="1"/>
              <a:t>Notaire</a:t>
            </a:r>
            <a:r>
              <a:rPr dirty="0"/>
              <a:t> : Circuit de </a:t>
            </a:r>
            <a:r>
              <a:rPr dirty="0" err="1"/>
              <a:t>relecture</a:t>
            </a:r>
            <a:r>
              <a:rPr dirty="0"/>
              <a:t> </a:t>
            </a:r>
            <a:r>
              <a:rPr dirty="0" err="1"/>
              <a:t>intégré</a:t>
            </a:r>
            <a:r>
              <a:rPr dirty="0"/>
              <a:t>. Les </a:t>
            </a:r>
            <a:r>
              <a:rPr dirty="0" err="1"/>
              <a:t>clercs</a:t>
            </a:r>
            <a:r>
              <a:rPr dirty="0"/>
              <a:t> </a:t>
            </a:r>
            <a:r>
              <a:rPr dirty="0" err="1"/>
              <a:t>génèrent</a:t>
            </a:r>
            <a:r>
              <a:rPr dirty="0"/>
              <a:t> les </a:t>
            </a:r>
            <a:r>
              <a:rPr dirty="0" err="1"/>
              <a:t>actes</a:t>
            </a:r>
            <a:r>
              <a:rPr dirty="0"/>
              <a:t>, le </a:t>
            </a:r>
            <a:r>
              <a:rPr dirty="0" err="1"/>
              <a:t>Notaire</a:t>
            </a:r>
            <a:r>
              <a:rPr dirty="0"/>
              <a:t> les </a:t>
            </a:r>
            <a:r>
              <a:rPr dirty="0" err="1"/>
              <a:t>valide</a:t>
            </a:r>
            <a:r>
              <a:rPr dirty="0"/>
              <a:t>.</a:t>
            </a:r>
          </a:p>
          <a:p>
            <a:pPr lvl="1">
              <a:defRPr sz="1800"/>
            </a:pPr>
            <a:r>
              <a:rPr dirty="0"/>
              <a:t>  Signature </a:t>
            </a:r>
            <a:r>
              <a:rPr dirty="0" err="1"/>
              <a:t>Cryptographique</a:t>
            </a:r>
            <a:r>
              <a:rPr dirty="0"/>
              <a:t> : Les </a:t>
            </a:r>
            <a:r>
              <a:rPr dirty="0" err="1"/>
              <a:t>actes</a:t>
            </a:r>
            <a:r>
              <a:rPr dirty="0"/>
              <a:t> </a:t>
            </a:r>
            <a:r>
              <a:rPr dirty="0" err="1"/>
              <a:t>validés</a:t>
            </a:r>
            <a:r>
              <a:rPr dirty="0"/>
              <a:t> </a:t>
            </a:r>
            <a:r>
              <a:rPr dirty="0" err="1"/>
              <a:t>bénéficient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empreinte</a:t>
            </a:r>
            <a:r>
              <a:rPr dirty="0"/>
              <a:t> </a:t>
            </a:r>
            <a:r>
              <a:rPr dirty="0" err="1"/>
              <a:t>sécurisée</a:t>
            </a:r>
            <a:r>
              <a:rPr dirty="0"/>
              <a:t> (hash SHA-256) </a:t>
            </a:r>
            <a:r>
              <a:rPr dirty="0" err="1"/>
              <a:t>garantissant</a:t>
            </a:r>
            <a:r>
              <a:rPr dirty="0"/>
              <a:t> </a:t>
            </a:r>
            <a:r>
              <a:rPr dirty="0" err="1"/>
              <a:t>leur</a:t>
            </a:r>
            <a:r>
              <a:rPr dirty="0"/>
              <a:t> </a:t>
            </a:r>
            <a:r>
              <a:rPr dirty="0" err="1"/>
              <a:t>intégrité</a:t>
            </a:r>
            <a:r>
              <a:rPr dirty="0"/>
              <a:t> </a:t>
            </a:r>
            <a:r>
              <a:rPr dirty="0" err="1"/>
              <a:t>avant</a:t>
            </a:r>
            <a:r>
              <a:rPr dirty="0"/>
              <a:t> </a:t>
            </a:r>
            <a:r>
              <a:rPr dirty="0" err="1"/>
              <a:t>archivage</a:t>
            </a:r>
            <a:r>
              <a:rPr dirty="0"/>
              <a:t>.</a:t>
            </a:r>
          </a:p>
          <a:p>
            <a:pPr>
              <a:defRPr sz="2200"/>
            </a:pPr>
            <a:r>
              <a:rPr dirty="0"/>
              <a:t>⚖️ 4. </a:t>
            </a:r>
            <a:r>
              <a:rPr dirty="0" err="1"/>
              <a:t>Formalités</a:t>
            </a:r>
            <a:r>
              <a:rPr dirty="0"/>
              <a:t> &amp; </a:t>
            </a:r>
            <a:r>
              <a:rPr dirty="0" err="1"/>
              <a:t>Conformité</a:t>
            </a:r>
            <a:r>
              <a:rPr dirty="0"/>
              <a:t> OHADA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Calculateur</a:t>
            </a:r>
            <a:r>
              <a:rPr dirty="0"/>
              <a:t> de </a:t>
            </a:r>
            <a:r>
              <a:rPr dirty="0" err="1"/>
              <a:t>Frais</a:t>
            </a:r>
            <a:r>
              <a:rPr dirty="0"/>
              <a:t> : </a:t>
            </a:r>
            <a:r>
              <a:rPr dirty="0" err="1"/>
              <a:t>Moteur</a:t>
            </a:r>
            <a:r>
              <a:rPr dirty="0"/>
              <a:t> de </a:t>
            </a:r>
            <a:r>
              <a:rPr dirty="0" err="1"/>
              <a:t>calcul</a:t>
            </a:r>
            <a:r>
              <a:rPr dirty="0"/>
              <a:t> </a:t>
            </a:r>
            <a:r>
              <a:rPr dirty="0" err="1"/>
              <a:t>intégré</a:t>
            </a:r>
            <a:r>
              <a:rPr dirty="0"/>
              <a:t> </a:t>
            </a:r>
            <a:r>
              <a:rPr dirty="0" err="1"/>
              <a:t>selon</a:t>
            </a:r>
            <a:r>
              <a:rPr dirty="0"/>
              <a:t> les </a:t>
            </a:r>
            <a:r>
              <a:rPr dirty="0" err="1"/>
              <a:t>barèmes</a:t>
            </a:r>
            <a:r>
              <a:rPr dirty="0"/>
              <a:t> </a:t>
            </a:r>
            <a:r>
              <a:rPr dirty="0" err="1"/>
              <a:t>officiels</a:t>
            </a:r>
            <a:r>
              <a:rPr dirty="0"/>
              <a:t> </a:t>
            </a:r>
            <a:r>
              <a:rPr dirty="0" err="1"/>
              <a:t>locaux</a:t>
            </a:r>
            <a:r>
              <a:rPr dirty="0"/>
              <a:t>/OHADA (</a:t>
            </a:r>
            <a:r>
              <a:rPr dirty="0" err="1"/>
              <a:t>taux</a:t>
            </a:r>
            <a:r>
              <a:rPr dirty="0"/>
              <a:t> fixes, </a:t>
            </a:r>
            <a:r>
              <a:rPr dirty="0" err="1"/>
              <a:t>proportionnels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dégressifs</a:t>
            </a:r>
            <a:r>
              <a:rPr dirty="0"/>
              <a:t>) pour </a:t>
            </a:r>
            <a:r>
              <a:rPr dirty="0" err="1"/>
              <a:t>anticiper</a:t>
            </a:r>
            <a:r>
              <a:rPr dirty="0"/>
              <a:t> les </a:t>
            </a:r>
            <a:r>
              <a:rPr dirty="0" err="1"/>
              <a:t>droits</a:t>
            </a:r>
            <a:r>
              <a:rPr dirty="0"/>
              <a:t> </a:t>
            </a:r>
            <a:r>
              <a:rPr dirty="0" err="1"/>
              <a:t>d'enregistrement</a:t>
            </a:r>
            <a:r>
              <a:rPr dirty="0"/>
              <a:t>.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Suivi</a:t>
            </a:r>
            <a:r>
              <a:rPr dirty="0"/>
              <a:t> des </a:t>
            </a:r>
            <a:r>
              <a:rPr dirty="0" err="1"/>
              <a:t>Dépôts</a:t>
            </a:r>
            <a:r>
              <a:rPr dirty="0"/>
              <a:t> : Tableau de </a:t>
            </a:r>
            <a:r>
              <a:rPr dirty="0" err="1"/>
              <a:t>bord</a:t>
            </a:r>
            <a:r>
              <a:rPr dirty="0"/>
              <a:t> de </a:t>
            </a:r>
            <a:r>
              <a:rPr dirty="0" err="1"/>
              <a:t>suivi</a:t>
            </a:r>
            <a:r>
              <a:rPr dirty="0"/>
              <a:t> </a:t>
            </a:r>
            <a:r>
              <a:rPr dirty="0" err="1"/>
              <a:t>chronologique</a:t>
            </a:r>
            <a:r>
              <a:rPr dirty="0"/>
              <a:t> des </a:t>
            </a:r>
            <a:r>
              <a:rPr dirty="0" err="1"/>
              <a:t>actes</a:t>
            </a:r>
            <a:r>
              <a:rPr dirty="0"/>
              <a:t> </a:t>
            </a:r>
            <a:r>
              <a:rPr dirty="0" err="1"/>
              <a:t>envoyés</a:t>
            </a:r>
            <a:r>
              <a:rPr dirty="0"/>
              <a:t> aux administrations (</a:t>
            </a:r>
            <a:r>
              <a:rPr dirty="0" err="1"/>
              <a:t>Cadastre</a:t>
            </a:r>
            <a:r>
              <a:rPr dirty="0"/>
              <a:t>, </a:t>
            </a:r>
            <a:r>
              <a:rPr dirty="0" err="1"/>
              <a:t>Impôts</a:t>
            </a:r>
            <a:r>
              <a:rPr dirty="0"/>
              <a:t>, RCCM).</a:t>
            </a:r>
          </a:p>
          <a:p>
            <a:pPr>
              <a:defRPr sz="2200"/>
            </a:pPr>
            <a:r>
              <a:rPr dirty="0"/>
              <a:t>💰 5. </a:t>
            </a:r>
            <a:r>
              <a:rPr dirty="0" err="1"/>
              <a:t>Comptabilité</a:t>
            </a:r>
            <a:r>
              <a:rPr dirty="0"/>
              <a:t> </a:t>
            </a:r>
            <a:r>
              <a:rPr dirty="0" err="1"/>
              <a:t>Notariale</a:t>
            </a:r>
            <a:r>
              <a:rPr dirty="0"/>
              <a:t> </a:t>
            </a:r>
            <a:r>
              <a:rPr dirty="0" err="1"/>
              <a:t>stricte</a:t>
            </a:r>
            <a:r>
              <a:rPr dirty="0"/>
              <a:t> (Double Entrée)</a:t>
            </a:r>
          </a:p>
          <a:p>
            <a:pPr>
              <a:defRPr sz="2200"/>
            </a:pPr>
            <a:r>
              <a:rPr dirty="0"/>
              <a:t>Le module métier le plus critique, </a:t>
            </a:r>
            <a:r>
              <a:rPr dirty="0" err="1"/>
              <a:t>développé</a:t>
            </a:r>
            <a:r>
              <a:rPr dirty="0"/>
              <a:t> pour </a:t>
            </a:r>
            <a:r>
              <a:rPr dirty="0" err="1"/>
              <a:t>répondre</a:t>
            </a:r>
            <a:r>
              <a:rPr dirty="0"/>
              <a:t> aux </a:t>
            </a:r>
            <a:r>
              <a:rPr dirty="0" err="1"/>
              <a:t>normes</a:t>
            </a:r>
            <a:r>
              <a:rPr dirty="0"/>
              <a:t> </a:t>
            </a:r>
            <a:r>
              <a:rPr dirty="0" err="1"/>
              <a:t>comptables</a:t>
            </a:r>
            <a:r>
              <a:rPr dirty="0"/>
              <a:t> des </a:t>
            </a:r>
            <a:r>
              <a:rPr dirty="0" err="1"/>
              <a:t>notaires</a:t>
            </a:r>
            <a:r>
              <a:rPr dirty="0"/>
              <a:t>.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Séparation</a:t>
            </a:r>
            <a:r>
              <a:rPr dirty="0"/>
              <a:t> des </a:t>
            </a:r>
            <a:r>
              <a:rPr dirty="0" err="1"/>
              <a:t>Fonds</a:t>
            </a:r>
            <a:r>
              <a:rPr dirty="0"/>
              <a:t> : </a:t>
            </a:r>
            <a:r>
              <a:rPr dirty="0" err="1"/>
              <a:t>Gestion</a:t>
            </a:r>
            <a:r>
              <a:rPr dirty="0"/>
              <a:t> </a:t>
            </a:r>
            <a:r>
              <a:rPr dirty="0" err="1"/>
              <a:t>complètement</a:t>
            </a:r>
            <a:r>
              <a:rPr dirty="0"/>
              <a:t> </a:t>
            </a:r>
            <a:r>
              <a:rPr dirty="0" err="1"/>
              <a:t>distincte</a:t>
            </a:r>
            <a:r>
              <a:rPr dirty="0"/>
              <a:t> entre la </a:t>
            </a:r>
            <a:r>
              <a:rPr dirty="0" err="1"/>
              <a:t>caisse</a:t>
            </a:r>
            <a:r>
              <a:rPr dirty="0"/>
              <a:t> de </a:t>
            </a:r>
            <a:r>
              <a:rPr dirty="0" err="1"/>
              <a:t>l'Office</a:t>
            </a:r>
            <a:r>
              <a:rPr dirty="0"/>
              <a:t> (</a:t>
            </a:r>
            <a:r>
              <a:rPr dirty="0" err="1"/>
              <a:t>honoraires</a:t>
            </a:r>
            <a:r>
              <a:rPr dirty="0"/>
              <a:t>) et les </a:t>
            </a:r>
            <a:r>
              <a:rPr dirty="0" err="1"/>
              <a:t>Comptes</a:t>
            </a:r>
            <a:r>
              <a:rPr dirty="0"/>
              <a:t> Clients (</a:t>
            </a:r>
            <a:r>
              <a:rPr dirty="0" err="1"/>
              <a:t>dépôts</a:t>
            </a:r>
            <a:r>
              <a:rPr dirty="0"/>
              <a:t> de </a:t>
            </a:r>
            <a:r>
              <a:rPr dirty="0" err="1"/>
              <a:t>garantie</a:t>
            </a:r>
            <a:r>
              <a:rPr dirty="0"/>
              <a:t>, </a:t>
            </a:r>
            <a:r>
              <a:rPr dirty="0" err="1"/>
              <a:t>frais</a:t>
            </a:r>
            <a:r>
              <a:rPr dirty="0"/>
              <a:t> de mutation).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Pièces</a:t>
            </a:r>
            <a:r>
              <a:rPr dirty="0"/>
              <a:t> </a:t>
            </a:r>
            <a:r>
              <a:rPr dirty="0" err="1"/>
              <a:t>Comptables</a:t>
            </a:r>
            <a:r>
              <a:rPr dirty="0"/>
              <a:t> : </a:t>
            </a:r>
            <a:r>
              <a:rPr dirty="0" err="1"/>
              <a:t>Génération</a:t>
            </a:r>
            <a:r>
              <a:rPr dirty="0"/>
              <a:t> en un </a:t>
            </a:r>
            <a:r>
              <a:rPr dirty="0" err="1"/>
              <a:t>clic</a:t>
            </a:r>
            <a:r>
              <a:rPr dirty="0"/>
              <a:t> des </a:t>
            </a:r>
            <a:r>
              <a:rPr dirty="0" err="1"/>
              <a:t>Reçus</a:t>
            </a:r>
            <a:r>
              <a:rPr dirty="0"/>
              <a:t> (avec </a:t>
            </a:r>
            <a:r>
              <a:rPr dirty="0" err="1"/>
              <a:t>numérotation</a:t>
            </a:r>
            <a:r>
              <a:rPr dirty="0"/>
              <a:t> </a:t>
            </a:r>
            <a:r>
              <a:rPr dirty="0" err="1"/>
              <a:t>stricte</a:t>
            </a:r>
            <a:r>
              <a:rPr dirty="0"/>
              <a:t>) et Factures.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Livre</a:t>
            </a:r>
            <a:r>
              <a:rPr dirty="0"/>
              <a:t> </a:t>
            </a:r>
            <a:r>
              <a:rPr dirty="0" err="1"/>
              <a:t>Comptable</a:t>
            </a:r>
            <a:r>
              <a:rPr dirty="0"/>
              <a:t> Central : </a:t>
            </a:r>
            <a:r>
              <a:rPr dirty="0" err="1"/>
              <a:t>Journaux</a:t>
            </a:r>
            <a:r>
              <a:rPr dirty="0"/>
              <a:t>, Balance </a:t>
            </a:r>
            <a:r>
              <a:rPr dirty="0" err="1"/>
              <a:t>Générale</a:t>
            </a:r>
            <a:r>
              <a:rPr dirty="0"/>
              <a:t> et Grand </a:t>
            </a:r>
            <a:r>
              <a:rPr dirty="0" err="1"/>
              <a:t>Livre</a:t>
            </a:r>
            <a:r>
              <a:rPr dirty="0"/>
              <a:t> </a:t>
            </a:r>
            <a:r>
              <a:rPr dirty="0" err="1"/>
              <a:t>générés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 en temps </a:t>
            </a:r>
            <a:r>
              <a:rPr dirty="0" err="1"/>
              <a:t>réel</a:t>
            </a:r>
            <a:r>
              <a:rPr dirty="0"/>
              <a:t> (</a:t>
            </a:r>
            <a:r>
              <a:rPr dirty="0" err="1"/>
              <a:t>Partie</a:t>
            </a:r>
            <a:r>
              <a:rPr dirty="0"/>
              <a:t> double </a:t>
            </a:r>
            <a:r>
              <a:rPr dirty="0" err="1"/>
              <a:t>respectée</a:t>
            </a:r>
            <a:r>
              <a:rPr dirty="0"/>
              <a:t>).</a:t>
            </a:r>
          </a:p>
          <a:p>
            <a:pPr>
              <a:defRPr sz="2200"/>
            </a:pPr>
            <a:r>
              <a:rPr dirty="0"/>
              <a:t>🏛️ 6. </a:t>
            </a:r>
            <a:r>
              <a:rPr dirty="0" err="1"/>
              <a:t>Archivage</a:t>
            </a:r>
            <a:r>
              <a:rPr dirty="0"/>
              <a:t> &amp; </a:t>
            </a:r>
            <a:r>
              <a:rPr dirty="0" err="1"/>
              <a:t>Répertoire</a:t>
            </a:r>
            <a:r>
              <a:rPr dirty="0"/>
              <a:t> Notarial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Clôture</a:t>
            </a:r>
            <a:r>
              <a:rPr dirty="0"/>
              <a:t> : Gel ("Locking") des </a:t>
            </a:r>
            <a:r>
              <a:rPr dirty="0" err="1"/>
              <a:t>données</a:t>
            </a:r>
            <a:r>
              <a:rPr dirty="0"/>
              <a:t> du dossier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 </a:t>
            </a:r>
            <a:r>
              <a:rPr dirty="0" err="1"/>
              <a:t>terminé</a:t>
            </a:r>
            <a:r>
              <a:rPr dirty="0"/>
              <a:t>.</a:t>
            </a:r>
          </a:p>
          <a:p>
            <a:pPr lvl="1">
              <a:defRPr sz="1800"/>
            </a:pPr>
            <a:r>
              <a:rPr dirty="0"/>
              <a:t>  </a:t>
            </a:r>
            <a:r>
              <a:rPr dirty="0" err="1"/>
              <a:t>Répertoire</a:t>
            </a:r>
            <a:r>
              <a:rPr dirty="0"/>
              <a:t> </a:t>
            </a:r>
            <a:r>
              <a:rPr dirty="0" err="1"/>
              <a:t>Numérique</a:t>
            </a:r>
            <a:r>
              <a:rPr dirty="0"/>
              <a:t> : </a:t>
            </a:r>
            <a:r>
              <a:rPr dirty="0" err="1"/>
              <a:t>Registre</a:t>
            </a:r>
            <a:r>
              <a:rPr dirty="0"/>
              <a:t> </a:t>
            </a:r>
            <a:r>
              <a:rPr dirty="0" err="1"/>
              <a:t>officiel</a:t>
            </a:r>
            <a:r>
              <a:rPr dirty="0"/>
              <a:t> des signatures </a:t>
            </a:r>
            <a:r>
              <a:rPr dirty="0" err="1"/>
              <a:t>attribuant</a:t>
            </a:r>
            <a:r>
              <a:rPr dirty="0"/>
              <a:t> un </a:t>
            </a:r>
            <a:r>
              <a:rPr dirty="0" err="1"/>
              <a:t>Numéro</a:t>
            </a:r>
            <a:r>
              <a:rPr dirty="0"/>
              <a:t> de </a:t>
            </a:r>
            <a:r>
              <a:rPr dirty="0" err="1"/>
              <a:t>Répertoire</a:t>
            </a:r>
            <a:r>
              <a:rPr dirty="0"/>
              <a:t> </a:t>
            </a:r>
            <a:r>
              <a:rPr dirty="0" err="1"/>
              <a:t>séquentiel</a:t>
            </a:r>
            <a:r>
              <a:rPr dirty="0"/>
              <a:t> </a:t>
            </a:r>
            <a:r>
              <a:rPr dirty="0" err="1"/>
              <a:t>annuel</a:t>
            </a:r>
            <a:r>
              <a:rPr dirty="0"/>
              <a:t>, </a:t>
            </a:r>
            <a:r>
              <a:rPr dirty="0" err="1"/>
              <a:t>interfaçable</a:t>
            </a:r>
            <a:r>
              <a:rPr dirty="0"/>
              <a:t> avec les </a:t>
            </a:r>
            <a:r>
              <a:rPr dirty="0" err="1"/>
              <a:t>registres</a:t>
            </a:r>
            <a:r>
              <a:rPr dirty="0"/>
              <a:t> </a:t>
            </a:r>
            <a:r>
              <a:rPr dirty="0" err="1"/>
              <a:t>d'État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🔄 Flow Diagram : Le cycle de vie d'un Dossier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  <a:p>
            <a:pPr>
              <a:defRPr sz="2200"/>
            </a:pPr>
            <a:r>
              <a:rPr sz="7200" dirty="0" err="1"/>
              <a:t>Voici</a:t>
            </a:r>
            <a:r>
              <a:rPr sz="7200" dirty="0"/>
              <a:t> comment un dossier </a:t>
            </a:r>
            <a:r>
              <a:rPr sz="7200" dirty="0" err="1"/>
              <a:t>transite</a:t>
            </a:r>
            <a:r>
              <a:rPr sz="7200" dirty="0"/>
              <a:t> d'un module à </a:t>
            </a:r>
            <a:r>
              <a:rPr sz="7200" dirty="0" err="1"/>
              <a:t>l'autre</a:t>
            </a:r>
            <a:r>
              <a:rPr sz="7200" dirty="0"/>
              <a:t> </a:t>
            </a:r>
            <a:r>
              <a:rPr sz="7200" dirty="0" err="1"/>
              <a:t>dans</a:t>
            </a:r>
            <a:r>
              <a:rPr sz="7200" dirty="0"/>
              <a:t> le </a:t>
            </a:r>
            <a:r>
              <a:rPr sz="7200" dirty="0" err="1"/>
              <a:t>quotidien</a:t>
            </a:r>
            <a:r>
              <a:rPr sz="7200" dirty="0"/>
              <a:t> de </a:t>
            </a:r>
            <a:r>
              <a:rPr sz="7200" dirty="0" err="1"/>
              <a:t>l'étude</a:t>
            </a:r>
            <a:r>
              <a:rPr sz="7200" dirty="0"/>
              <a:t>.</a:t>
            </a:r>
          </a:p>
          <a:p>
            <a:pPr>
              <a:defRPr sz="2200"/>
            </a:pPr>
            <a:r>
              <a:rPr sz="7200" dirty="0"/>
              <a:t>graph TD</a:t>
            </a:r>
          </a:p>
          <a:p>
            <a:pPr>
              <a:defRPr sz="2200"/>
            </a:pPr>
            <a:r>
              <a:rPr sz="7200" dirty="0"/>
              <a:t>A([</a:t>
            </a:r>
            <a:r>
              <a:rPr sz="7200" dirty="0" err="1"/>
              <a:t>Accueil</a:t>
            </a:r>
            <a:r>
              <a:rPr sz="7200" dirty="0"/>
              <a:t> Client]) --&gt;|</a:t>
            </a:r>
            <a:r>
              <a:rPr sz="7200" dirty="0" err="1"/>
              <a:t>Saisie</a:t>
            </a:r>
            <a:r>
              <a:rPr sz="7200" dirty="0"/>
              <a:t> KYC| B(</a:t>
            </a:r>
            <a:r>
              <a:rPr sz="7200" dirty="0" err="1"/>
              <a:t>Création</a:t>
            </a:r>
            <a:r>
              <a:rPr sz="7200" dirty="0"/>
              <a:t> Fiche Client)</a:t>
            </a:r>
          </a:p>
          <a:p>
            <a:pPr>
              <a:defRPr sz="2200"/>
            </a:pPr>
            <a:r>
              <a:rPr sz="7200" dirty="0"/>
              <a:t>B --&gt; C{</a:t>
            </a:r>
            <a:r>
              <a:rPr sz="7200" dirty="0" err="1"/>
              <a:t>Ouverture</a:t>
            </a:r>
            <a:r>
              <a:rPr sz="7200" dirty="0"/>
              <a:t> de Dossier}</a:t>
            </a:r>
          </a:p>
          <a:p>
            <a:pPr>
              <a:defRPr sz="2200"/>
            </a:pPr>
            <a:r>
              <a:rPr sz="7200" dirty="0"/>
              <a:t>C --&gt;|Affectation| D[Attribution des </a:t>
            </a:r>
            <a:r>
              <a:rPr sz="7200" dirty="0" err="1"/>
              <a:t>rôles</a:t>
            </a:r>
            <a:r>
              <a:rPr sz="7200" dirty="0"/>
              <a:t> &lt;</a:t>
            </a:r>
            <a:r>
              <a:rPr sz="7200" dirty="0" err="1"/>
              <a:t>br</a:t>
            </a:r>
            <a:r>
              <a:rPr sz="7200" dirty="0"/>
              <a:t>&gt; </a:t>
            </a:r>
            <a:r>
              <a:rPr sz="7200" dirty="0" err="1"/>
              <a:t>Acheteur</a:t>
            </a:r>
            <a:r>
              <a:rPr sz="7200" dirty="0"/>
              <a:t>, </a:t>
            </a:r>
            <a:r>
              <a:rPr sz="7200" dirty="0" err="1"/>
              <a:t>Vendeur</a:t>
            </a:r>
            <a:r>
              <a:rPr sz="7200" dirty="0"/>
              <a:t>...]</a:t>
            </a:r>
          </a:p>
          <a:p>
            <a:pPr>
              <a:defRPr sz="2200"/>
            </a:pPr>
            <a:r>
              <a:rPr sz="7200" dirty="0"/>
              <a:t>D --&gt; E(</a:t>
            </a:r>
            <a:r>
              <a:rPr sz="7200" dirty="0" err="1"/>
              <a:t>Rédaction</a:t>
            </a:r>
            <a:r>
              <a:rPr sz="7200" dirty="0"/>
              <a:t> de </a:t>
            </a:r>
            <a:r>
              <a:rPr sz="7200" dirty="0" err="1"/>
              <a:t>l'Acte</a:t>
            </a:r>
            <a:r>
              <a:rPr sz="7200" dirty="0"/>
              <a:t>)</a:t>
            </a:r>
          </a:p>
          <a:p>
            <a:pPr>
              <a:defRPr sz="2200"/>
            </a:pPr>
            <a:r>
              <a:rPr sz="7200" dirty="0"/>
              <a:t>E --&gt;|</a:t>
            </a:r>
            <a:r>
              <a:rPr sz="7200" dirty="0" err="1"/>
              <a:t>Génération</a:t>
            </a:r>
            <a:r>
              <a:rPr sz="7200" dirty="0"/>
              <a:t> Word auto| F[Validation par le </a:t>
            </a:r>
            <a:r>
              <a:rPr sz="7200" dirty="0" err="1"/>
              <a:t>Notaire</a:t>
            </a:r>
            <a:r>
              <a:rPr sz="7200" dirty="0"/>
              <a:t>]</a:t>
            </a:r>
          </a:p>
          <a:p>
            <a:pPr>
              <a:defRPr sz="2200"/>
            </a:pPr>
            <a:r>
              <a:rPr sz="7200" dirty="0"/>
              <a:t>F --&gt;|Approbation &amp; </a:t>
            </a:r>
            <a:r>
              <a:rPr sz="7200" dirty="0" err="1"/>
              <a:t>Empreinte</a:t>
            </a:r>
            <a:r>
              <a:rPr sz="7200" dirty="0"/>
              <a:t>| G(Signature de </a:t>
            </a:r>
            <a:r>
              <a:rPr sz="7200" dirty="0" err="1"/>
              <a:t>l'Acte</a:t>
            </a:r>
            <a:r>
              <a:rPr sz="7200" dirty="0"/>
              <a:t>)</a:t>
            </a:r>
          </a:p>
          <a:p>
            <a:pPr>
              <a:defRPr sz="2200"/>
            </a:pPr>
            <a:r>
              <a:rPr sz="7200" dirty="0"/>
              <a:t>G --&gt; H{</a:t>
            </a:r>
            <a:r>
              <a:rPr sz="7200" dirty="0" err="1"/>
              <a:t>Suivi</a:t>
            </a:r>
            <a:r>
              <a:rPr sz="7200" dirty="0"/>
              <a:t> POST-Signature}</a:t>
            </a:r>
          </a:p>
          <a:p>
            <a:pPr>
              <a:defRPr sz="2200"/>
            </a:pPr>
            <a:r>
              <a:rPr sz="7200" dirty="0"/>
              <a:t>H --&gt;|</a:t>
            </a:r>
            <a:r>
              <a:rPr sz="7200" dirty="0" err="1"/>
              <a:t>Évaluation</a:t>
            </a:r>
            <a:r>
              <a:rPr sz="7200" dirty="0"/>
              <a:t> </a:t>
            </a:r>
            <a:r>
              <a:rPr sz="7200" dirty="0" err="1"/>
              <a:t>Financière</a:t>
            </a:r>
            <a:r>
              <a:rPr sz="7200" dirty="0"/>
              <a:t>| I[</a:t>
            </a:r>
            <a:r>
              <a:rPr sz="7200" dirty="0" err="1"/>
              <a:t>Calculateur</a:t>
            </a:r>
            <a:r>
              <a:rPr sz="7200" dirty="0"/>
              <a:t> </a:t>
            </a:r>
            <a:r>
              <a:rPr sz="7200" dirty="0" err="1"/>
              <a:t>Frais</a:t>
            </a:r>
            <a:r>
              <a:rPr sz="7200" dirty="0"/>
              <a:t> OHADA]</a:t>
            </a:r>
          </a:p>
          <a:p>
            <a:pPr>
              <a:defRPr sz="2200"/>
            </a:pPr>
            <a:r>
              <a:rPr sz="7200" dirty="0"/>
              <a:t>I --&gt; J[</a:t>
            </a:r>
            <a:r>
              <a:rPr sz="7200" dirty="0" err="1"/>
              <a:t>Paiement</a:t>
            </a:r>
            <a:r>
              <a:rPr sz="7200" dirty="0"/>
              <a:t> &amp; </a:t>
            </a:r>
            <a:r>
              <a:rPr sz="7200" dirty="0" err="1"/>
              <a:t>Reçu</a:t>
            </a:r>
            <a:r>
              <a:rPr sz="7200" dirty="0"/>
              <a:t> &lt;</a:t>
            </a:r>
            <a:r>
              <a:rPr sz="7200" dirty="0" err="1"/>
              <a:t>br</a:t>
            </a:r>
            <a:r>
              <a:rPr sz="7200" dirty="0"/>
              <a:t>&gt; </a:t>
            </a:r>
            <a:r>
              <a:rPr sz="7200" dirty="0" err="1"/>
              <a:t>Comptabilité</a:t>
            </a:r>
            <a:r>
              <a:rPr sz="7200" dirty="0"/>
              <a:t> Client]</a:t>
            </a:r>
          </a:p>
          <a:p>
            <a:pPr>
              <a:defRPr sz="2200"/>
            </a:pPr>
            <a:r>
              <a:rPr sz="7200" dirty="0"/>
              <a:t>H --&gt;|</a:t>
            </a:r>
            <a:r>
              <a:rPr sz="7200" dirty="0" err="1"/>
              <a:t>Juridique</a:t>
            </a:r>
            <a:r>
              <a:rPr sz="7200" dirty="0"/>
              <a:t>| K[</a:t>
            </a:r>
            <a:r>
              <a:rPr sz="7200" dirty="0" err="1"/>
              <a:t>Formalités</a:t>
            </a:r>
            <a:r>
              <a:rPr sz="7200" dirty="0"/>
              <a:t> </a:t>
            </a:r>
            <a:r>
              <a:rPr sz="7200" dirty="0" err="1"/>
              <a:t>administratives</a:t>
            </a:r>
            <a:r>
              <a:rPr sz="7200" dirty="0"/>
              <a:t> &lt;</a:t>
            </a:r>
            <a:r>
              <a:rPr sz="7200" dirty="0" err="1"/>
              <a:t>br</a:t>
            </a:r>
            <a:r>
              <a:rPr sz="7200" dirty="0"/>
              <a:t>&gt; </a:t>
            </a:r>
            <a:r>
              <a:rPr sz="7200" dirty="0" err="1"/>
              <a:t>Enregistrement</a:t>
            </a:r>
            <a:r>
              <a:rPr sz="7200" dirty="0"/>
              <a:t> / </a:t>
            </a:r>
            <a:r>
              <a:rPr sz="7200" dirty="0" err="1"/>
              <a:t>Impôts</a:t>
            </a:r>
            <a:r>
              <a:rPr sz="7200" dirty="0"/>
              <a:t>]</a:t>
            </a:r>
          </a:p>
          <a:p>
            <a:pPr>
              <a:defRPr sz="2200"/>
            </a:pPr>
            <a:r>
              <a:rPr sz="7200" dirty="0"/>
              <a:t>K --&gt; L[</a:t>
            </a:r>
            <a:r>
              <a:rPr sz="7200" dirty="0" err="1"/>
              <a:t>Facturation</a:t>
            </a:r>
            <a:r>
              <a:rPr sz="7200" dirty="0"/>
              <a:t> </a:t>
            </a:r>
            <a:r>
              <a:rPr sz="7200" dirty="0" err="1"/>
              <a:t>Honoraires</a:t>
            </a:r>
            <a:r>
              <a:rPr sz="7200" dirty="0"/>
              <a:t> &lt;</a:t>
            </a:r>
            <a:r>
              <a:rPr sz="7200" dirty="0" err="1"/>
              <a:t>br</a:t>
            </a:r>
            <a:r>
              <a:rPr sz="7200" dirty="0"/>
              <a:t>&gt; </a:t>
            </a:r>
            <a:r>
              <a:rPr sz="7200" dirty="0" err="1"/>
              <a:t>Comptabilité</a:t>
            </a:r>
            <a:r>
              <a:rPr sz="7200" dirty="0"/>
              <a:t> </a:t>
            </a:r>
            <a:r>
              <a:rPr sz="7200" dirty="0" err="1"/>
              <a:t>Étude</a:t>
            </a:r>
            <a:r>
              <a:rPr sz="7200" dirty="0"/>
              <a:t>]</a:t>
            </a:r>
          </a:p>
          <a:p>
            <a:pPr>
              <a:defRPr sz="2200"/>
            </a:pPr>
            <a:r>
              <a:rPr sz="7200" dirty="0"/>
              <a:t>J --&gt; M</a:t>
            </a:r>
          </a:p>
          <a:p>
            <a:pPr>
              <a:defRPr sz="2200"/>
            </a:pPr>
            <a:r>
              <a:rPr sz="7200" dirty="0"/>
              <a:t>L --&gt; M((</a:t>
            </a:r>
            <a:r>
              <a:rPr sz="7200" dirty="0" err="1"/>
              <a:t>Archivage</a:t>
            </a:r>
            <a:r>
              <a:rPr sz="7200" dirty="0"/>
              <a:t> Final &lt;</a:t>
            </a:r>
            <a:r>
              <a:rPr sz="7200" dirty="0" err="1"/>
              <a:t>br</a:t>
            </a:r>
            <a:r>
              <a:rPr sz="7200" dirty="0"/>
              <a:t>&gt; Inscription au </a:t>
            </a:r>
            <a:r>
              <a:rPr sz="7200" dirty="0" err="1"/>
              <a:t>Répertoire</a:t>
            </a:r>
            <a:r>
              <a:rPr sz="7200" dirty="0"/>
              <a:t>))</a:t>
            </a:r>
          </a:p>
          <a:p>
            <a:pPr>
              <a:defRPr sz="2200"/>
            </a:pPr>
            <a:r>
              <a:rPr sz="7200" dirty="0" err="1"/>
              <a:t>classDef</a:t>
            </a:r>
            <a:r>
              <a:rPr sz="7200" dirty="0"/>
              <a:t> </a:t>
            </a:r>
            <a:r>
              <a:rPr sz="7200" dirty="0" err="1"/>
              <a:t>comptabilite</a:t>
            </a:r>
            <a:r>
              <a:rPr sz="7200" dirty="0"/>
              <a:t> fill:#2d6a4f,stroke:#fff,stroke-width:2px,color:#</a:t>
            </a:r>
            <a:r>
              <a:rPr sz="7200" dirty="0" err="1"/>
              <a:t>fff</a:t>
            </a:r>
            <a:r>
              <a:rPr sz="7200" dirty="0"/>
              <a:t>;</a:t>
            </a:r>
          </a:p>
          <a:p>
            <a:pPr>
              <a:defRPr sz="2200"/>
            </a:pPr>
            <a:r>
              <a:rPr sz="7200" dirty="0" err="1"/>
              <a:t>classDef</a:t>
            </a:r>
            <a:r>
              <a:rPr sz="7200" dirty="0"/>
              <a:t> </a:t>
            </a:r>
            <a:r>
              <a:rPr sz="7200" dirty="0" err="1"/>
              <a:t>juridique</a:t>
            </a:r>
            <a:r>
              <a:rPr sz="7200" dirty="0"/>
              <a:t> fill:#023e8a,stroke:#fff,stroke-width:2px,color:#</a:t>
            </a:r>
            <a:r>
              <a:rPr sz="7200" dirty="0" err="1"/>
              <a:t>fff</a:t>
            </a:r>
            <a:r>
              <a:rPr sz="7200" dirty="0"/>
              <a:t>;</a:t>
            </a:r>
          </a:p>
          <a:p>
            <a:pPr>
              <a:defRPr sz="2200"/>
            </a:pPr>
            <a:r>
              <a:rPr sz="7200" dirty="0" err="1"/>
              <a:t>classDef</a:t>
            </a:r>
            <a:r>
              <a:rPr sz="7200" dirty="0"/>
              <a:t> </a:t>
            </a:r>
            <a:r>
              <a:rPr sz="7200" dirty="0" err="1"/>
              <a:t>administratif</a:t>
            </a:r>
            <a:r>
              <a:rPr sz="7200" dirty="0"/>
              <a:t> fill:#b08968,stroke:#fff,stroke-width:2px,color:#</a:t>
            </a:r>
            <a:r>
              <a:rPr sz="7200" dirty="0" err="1"/>
              <a:t>fff</a:t>
            </a:r>
            <a:r>
              <a:rPr sz="7200" dirty="0"/>
              <a:t>;</a:t>
            </a:r>
          </a:p>
          <a:p>
            <a:pPr>
              <a:defRPr sz="2200"/>
            </a:pPr>
            <a:r>
              <a:rPr sz="7200" dirty="0"/>
              <a:t>class J,L </a:t>
            </a:r>
            <a:r>
              <a:rPr sz="7200" dirty="0" err="1"/>
              <a:t>comptabilite</a:t>
            </a:r>
            <a:r>
              <a:rPr sz="7200" dirty="0"/>
              <a:t>;</a:t>
            </a:r>
          </a:p>
          <a:p>
            <a:pPr>
              <a:defRPr sz="2200"/>
            </a:pPr>
            <a:r>
              <a:rPr sz="7200" dirty="0"/>
              <a:t>class E,F,G,K </a:t>
            </a:r>
            <a:r>
              <a:rPr sz="7200" dirty="0" err="1"/>
              <a:t>juridique</a:t>
            </a:r>
            <a:r>
              <a:rPr sz="7200" dirty="0"/>
              <a:t>;</a:t>
            </a:r>
          </a:p>
          <a:p>
            <a:pPr>
              <a:defRPr sz="2200"/>
            </a:pPr>
            <a:r>
              <a:rPr sz="7200" dirty="0"/>
              <a:t>class A,B,C,D,M </a:t>
            </a:r>
            <a:r>
              <a:rPr sz="7200" dirty="0" err="1"/>
              <a:t>administratif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🔐 Sécurité &amp; Accès (RBAC)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Le système offre une gestion fine des droits d'accès basée sur les rôles (Role-Based Access Control) :</a:t>
            </a:r>
          </a:p>
          <a:p>
            <a:pPr lvl="1">
              <a:defRPr sz="1800"/>
            </a:pPr>
            <a:r>
              <a:t>  ADMIN / NOTAIRE : Accès total, validation des actes, accès aux bilans comptables, configuration des paramètres de l'étude.</a:t>
            </a:r>
          </a:p>
          <a:p>
            <a:pPr lvl="1">
              <a:defRPr sz="1800"/>
            </a:pPr>
            <a:r>
              <a:t>  CLERC : Création de dossiers, rédaction des actes (brouillons), suivi des formalités. Pas d'accès au grand livre comptable.</a:t>
            </a:r>
          </a:p>
          <a:p>
            <a:pPr lvl="1">
              <a:defRPr sz="1800"/>
            </a:pPr>
            <a:r>
              <a:t>  COMPTABLE : Accès spécifique au module financier (Encaissements, Reçus, Grand Livre, Facturation), sans droits de validation juridique sur les actes.</a:t>
            </a:r>
          </a:p>
          <a:p>
            <a:pPr>
              <a:defRPr sz="2200"/>
            </a:pPr>
            <a:r>
              <a:t>AGEN-OHADA v1.0 - Pensé pour l'excellence et la réactivité des Notaires modernes.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4F46E5"/>
                </a:solidFill>
              </a:defRPr>
            </a:pPr>
            <a:r>
              <a:t>AGEN-OHADA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Pour l'excellence et la réactivité des Notaires modernes.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942</Words>
  <Application>Microsoft Office PowerPoint</Application>
  <PresentationFormat>Affichage à l'écran (4:3)</PresentationFormat>
  <Paragraphs>72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AGEN-OHADA</vt:lpstr>
      <vt:lpstr>🏗️ Architecture Technique</vt:lpstr>
      <vt:lpstr>✨ Fonctionnalités Principales (Modules)</vt:lpstr>
      <vt:lpstr>🔄 Flow Diagram : Le cycle de vie d'un Dossier</vt:lpstr>
      <vt:lpstr>🔐 Sécurité &amp; Accès (RBAC)</vt:lpstr>
      <vt:lpstr>AGEN-OHADA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AGEN-OHADA</dc:title>
  <dc:subject/>
  <dc:creator>Admin</dc:creator>
  <cp:keywords/>
  <dc:description>generated using python-pptx</dc:description>
  <cp:lastModifiedBy>macoumba</cp:lastModifiedBy>
  <cp:revision>2</cp:revision>
  <dcterms:created xsi:type="dcterms:W3CDTF">2013-01-27T09:14:16Z</dcterms:created>
  <dcterms:modified xsi:type="dcterms:W3CDTF">2026-02-25T01:34:41Z</dcterms:modified>
  <cp:category/>
</cp:coreProperties>
</file>